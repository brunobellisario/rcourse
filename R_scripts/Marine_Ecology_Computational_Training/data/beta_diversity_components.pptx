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5"/>
  </p:normalViewPr>
  <p:slideViewPr>
    <p:cSldViewPr snapToGrid="0" snapToObjects="1">
      <p:cViewPr varScale="1">
        <p:scale>
          <a:sx n="103" d="100"/>
          <a:sy n="103" d="100"/>
        </p:scale>
        <p:origin x="8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FF6512-6297-D349-A23C-B7D82083638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9750B306-9A2F-464D-B878-772B1B560A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77684896-9B27-D948-B4C2-6D8349016A76}"/>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02275980-BE9B-A643-9601-3E8F83C923B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12852B0-D025-D342-B3FA-76010F60A68B}"/>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554102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CED383-6632-2B46-A3B5-2398B5AE0288}"/>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77EEB7E-0ED7-1542-81B7-3DE4DE29A7C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8A4BEC9-17C4-7948-9B72-1A2A998C1903}"/>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8E1C76E1-64AC-9A47-8AFE-5AC1D1E67FB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4A98FED-01D8-7547-9CDA-2AB3DFA03BD7}"/>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2111069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D3B47D-E80D-9341-8763-3B5C9A8C607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E6C18403-6161-4244-8913-5CEC77AF7E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7B046CB-24FF-3A43-A00F-F952287CEB68}"/>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4B72E498-73C1-7342-811A-70CB398484C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5DD102-470D-434B-9440-4A8B17B950F1}"/>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3699807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1B9601F-DA4F-E046-9FF1-B7EDEAA638F8}"/>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AC49D4F-1D5B-C145-AA91-75286754492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D75C1A9-9859-3B4C-AC5F-B3A23ED9CB73}"/>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2E14F4-9844-A748-9F20-1AB807B4C409}"/>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6" name="Segnaposto piè di pagina 5">
            <a:extLst>
              <a:ext uri="{FF2B5EF4-FFF2-40B4-BE49-F238E27FC236}">
                <a16:creationId xmlns:a16="http://schemas.microsoft.com/office/drawing/2014/main" id="{39DB9711-8597-5749-AFC5-609DC74167B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F522996-8514-EB41-BFA3-7E0C1A5CCDAE}"/>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2713514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F2DC731-C011-5B42-ACE6-E9481550EBD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3BF5F45-68AA-5248-AE23-3AC7ACFEF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91D98C2-B912-8C41-88B0-0B224D540F9B}"/>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A701143-4374-1F4B-B6B0-B0E7D807C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3B6C9283-FCC8-D24A-B408-1BC9ADE94E8A}"/>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223875E-E893-574F-8E3C-CB25B31A158D}"/>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8" name="Segnaposto piè di pagina 7">
            <a:extLst>
              <a:ext uri="{FF2B5EF4-FFF2-40B4-BE49-F238E27FC236}">
                <a16:creationId xmlns:a16="http://schemas.microsoft.com/office/drawing/2014/main" id="{F3AC6677-0074-A940-A11E-515272FD414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6BC66B5-E613-334F-AB44-1818C7EA0C24}"/>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149178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B5454B-0A7A-DC46-ACF8-DA2ED11D2EC7}"/>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E60FC48-0C0F-364A-8996-D2507D6E6B96}"/>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4" name="Segnaposto piè di pagina 3">
            <a:extLst>
              <a:ext uri="{FF2B5EF4-FFF2-40B4-BE49-F238E27FC236}">
                <a16:creationId xmlns:a16="http://schemas.microsoft.com/office/drawing/2014/main" id="{7009DE6D-E7C7-F546-AA65-AEACDB968FB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457AFA0-D006-7A4B-94BF-5BD5059E12A8}"/>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138802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5ABFA2-814D-6043-8EF7-DFF70E610C96}"/>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3" name="Segnaposto piè di pagina 2">
            <a:extLst>
              <a:ext uri="{FF2B5EF4-FFF2-40B4-BE49-F238E27FC236}">
                <a16:creationId xmlns:a16="http://schemas.microsoft.com/office/drawing/2014/main" id="{39EF1CDF-F0B3-E140-A7E5-8521A86981BC}"/>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7E028F29-DDFC-2649-B15E-2177E58CC40E}"/>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248389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84A382-4F2D-CD4D-BC88-DFC90C11A72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C67EA63-06EA-E440-8BA5-E058389D74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DF86DA1-0218-0548-B2E9-E4CADE5F1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AF7353E-83C3-964A-932C-DBD4A2725D3A}"/>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6" name="Segnaposto piè di pagina 5">
            <a:extLst>
              <a:ext uri="{FF2B5EF4-FFF2-40B4-BE49-F238E27FC236}">
                <a16:creationId xmlns:a16="http://schemas.microsoft.com/office/drawing/2014/main" id="{37301872-FB73-3449-86FD-D4463738DE20}"/>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7028ABC-E55D-E943-B0D6-532FA56638AA}"/>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89289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842358-5170-AD45-95E2-37C70929D1D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A76FD818-E389-8649-9357-E4E709AEB9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D272CEC6-4664-5B40-BB03-F81ED2A69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FD5486D-0877-8045-8FC6-B3F305E2CEEC}"/>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6" name="Segnaposto piè di pagina 5">
            <a:extLst>
              <a:ext uri="{FF2B5EF4-FFF2-40B4-BE49-F238E27FC236}">
                <a16:creationId xmlns:a16="http://schemas.microsoft.com/office/drawing/2014/main" id="{DD55694C-6311-6E43-ABB0-87FAD2DA3AE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3DF929B-CEDE-0641-8CEC-A04A12909797}"/>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2723174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8A63E0-233B-B047-B43B-76E80A6E9434}"/>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38D9F0F-EA58-E14E-9781-4A1EC32A654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0DF8975-4A27-4843-8289-92671AA72595}"/>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04A048DC-EDC4-4847-B78E-F5013E92D78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674A9FD-CAA6-E74E-ABE2-1048E8BBD929}"/>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3706736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6BBB2C0-D1F6-ED4B-B0DB-EE118B0D761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E4BDD099-FBDE-DC42-BB67-206E7DAC789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47445F9-9E55-D74E-A3A2-B7AC24069E7C}"/>
              </a:ext>
            </a:extLst>
          </p:cNvPr>
          <p:cNvSpPr>
            <a:spLocks noGrp="1"/>
          </p:cNvSpPr>
          <p:nvPr>
            <p:ph type="dt" sz="half" idx="10"/>
          </p:nvPr>
        </p:nvSpPr>
        <p:spPr/>
        <p:txBody>
          <a:body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38E838F4-3DE1-A84C-9300-204909791D3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A38DCE-6B78-3F45-8E7C-15D4948DA781}"/>
              </a:ext>
            </a:extLst>
          </p:cNvPr>
          <p:cNvSpPr>
            <a:spLocks noGrp="1"/>
          </p:cNvSpPr>
          <p:nvPr>
            <p:ph type="sldNum" sz="quarter" idx="12"/>
          </p:nvPr>
        </p:nvSpPr>
        <p:spPr/>
        <p:txBody>
          <a:bodyPr/>
          <a:lstStyle/>
          <a:p>
            <a:fld id="{79CB29DE-238D-9441-9A04-58A5CE50644B}" type="slidenum">
              <a:rPr lang="it-IT" smtClean="0"/>
              <a:t>‹N›</a:t>
            </a:fld>
            <a:endParaRPr lang="it-IT"/>
          </a:p>
        </p:txBody>
      </p:sp>
    </p:spTree>
    <p:extLst>
      <p:ext uri="{BB962C8B-B14F-4D97-AF65-F5344CB8AC3E}">
        <p14:creationId xmlns:p14="http://schemas.microsoft.com/office/powerpoint/2010/main" val="811665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94A43E7-45B7-544D-8E2D-067F51244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A039197-593C-6040-AB50-91D98577BD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383AF92-9654-1E48-A3F7-4D5A61172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1E0810-2CF6-7640-99AF-C4E8EC6361A9}" type="datetimeFigureOut">
              <a:rPr lang="it-IT" smtClean="0"/>
              <a:t>19/12/21</a:t>
            </a:fld>
            <a:endParaRPr lang="it-IT"/>
          </a:p>
        </p:txBody>
      </p:sp>
      <p:sp>
        <p:nvSpPr>
          <p:cNvPr id="5" name="Segnaposto piè di pagina 4">
            <a:extLst>
              <a:ext uri="{FF2B5EF4-FFF2-40B4-BE49-F238E27FC236}">
                <a16:creationId xmlns:a16="http://schemas.microsoft.com/office/drawing/2014/main" id="{56C28DE4-3435-D942-BCBC-5EC6FF3726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F088FC3A-1DC0-FC41-B147-A70F97422C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B29DE-238D-9441-9A04-58A5CE50644B}" type="slidenum">
              <a:rPr lang="it-IT" smtClean="0"/>
              <a:t>‹N›</a:t>
            </a:fld>
            <a:endParaRPr lang="it-IT"/>
          </a:p>
        </p:txBody>
      </p:sp>
    </p:spTree>
    <p:extLst>
      <p:ext uri="{BB962C8B-B14F-4D97-AF65-F5344CB8AC3E}">
        <p14:creationId xmlns:p14="http://schemas.microsoft.com/office/powerpoint/2010/main" val="2365940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B8ADFCA-9B25-FD44-AC3F-DC0239B02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704" y="1076927"/>
            <a:ext cx="7668421" cy="2195685"/>
          </a:xfrm>
          <a:prstGeom prst="rect">
            <a:avLst/>
          </a:prstGeom>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C4F593B-EA7A-0E40-8F50-C8AB0999F9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704" y="4364497"/>
            <a:ext cx="7668421" cy="2195685"/>
          </a:xfrm>
          <a:prstGeom prst="rect">
            <a:avLst/>
          </a:prstGeom>
          <a:noFill/>
          <a:extLst>
            <a:ext uri="{909E8E84-426E-40DD-AFC4-6F175D3DCCD1}">
              <a14:hiddenFill xmlns:a14="http://schemas.microsoft.com/office/drawing/2010/main">
                <a:solidFill>
                  <a:srgbClr val="FFFFFF"/>
                </a:solidFill>
              </a14:hiddenFill>
            </a:ext>
          </a:extLst>
        </p:spPr>
      </p:pic>
      <p:sp>
        <p:nvSpPr>
          <p:cNvPr id="4" name="Rettangolo 3">
            <a:extLst>
              <a:ext uri="{FF2B5EF4-FFF2-40B4-BE49-F238E27FC236}">
                <a16:creationId xmlns:a16="http://schemas.microsoft.com/office/drawing/2014/main" id="{3D65993E-8708-7144-852A-F6D68BDC9FEA}"/>
              </a:ext>
            </a:extLst>
          </p:cNvPr>
          <p:cNvSpPr/>
          <p:nvPr/>
        </p:nvSpPr>
        <p:spPr>
          <a:xfrm>
            <a:off x="327704" y="238597"/>
            <a:ext cx="11536589" cy="584775"/>
          </a:xfrm>
          <a:prstGeom prst="rect">
            <a:avLst/>
          </a:prstGeom>
        </p:spPr>
        <p:txBody>
          <a:bodyPr wrap="square">
            <a:spAutoFit/>
          </a:bodyPr>
          <a:lstStyle/>
          <a:p>
            <a:pPr algn="ctr"/>
            <a:r>
              <a:rPr lang="en-GB" sz="1600" b="0" i="0" u="none" strike="noStrike" dirty="0">
                <a:solidFill>
                  <a:srgbClr val="111111"/>
                </a:solidFill>
                <a:effectLst/>
                <a:latin typeface="Arial" panose="020B0604020202020204" pitchFamily="34" charset="0"/>
                <a:cs typeface="Arial" panose="020B0604020202020204" pitchFamily="34" charset="0"/>
              </a:rPr>
              <a:t>The meaning of “difference” applied to biological communities is not unidimensional. The first thought we all have when thinking about beta diversity, or difference between biological assemblages, is the replacement of some species by others.</a:t>
            </a:r>
            <a:endParaRPr lang="en-GB" sz="1600" dirty="0">
              <a:latin typeface="Arial" panose="020B0604020202020204" pitchFamily="34" charset="0"/>
              <a:cs typeface="Arial" panose="020B0604020202020204" pitchFamily="34" charset="0"/>
            </a:endParaRPr>
          </a:p>
        </p:txBody>
      </p:sp>
      <p:sp>
        <p:nvSpPr>
          <p:cNvPr id="5" name="Rettangolo 4">
            <a:extLst>
              <a:ext uri="{FF2B5EF4-FFF2-40B4-BE49-F238E27FC236}">
                <a16:creationId xmlns:a16="http://schemas.microsoft.com/office/drawing/2014/main" id="{47598CD7-5C35-6745-A3AC-A528BEA7F758}"/>
              </a:ext>
            </a:extLst>
          </p:cNvPr>
          <p:cNvSpPr/>
          <p:nvPr/>
        </p:nvSpPr>
        <p:spPr>
          <a:xfrm>
            <a:off x="563284" y="3526167"/>
            <a:ext cx="11308240" cy="584775"/>
          </a:xfrm>
          <a:prstGeom prst="rect">
            <a:avLst/>
          </a:prstGeom>
        </p:spPr>
        <p:txBody>
          <a:bodyPr wrap="square">
            <a:spAutoFit/>
          </a:bodyPr>
          <a:lstStyle/>
          <a:p>
            <a:r>
              <a:rPr lang="en-GB" sz="1600">
                <a:solidFill>
                  <a:srgbClr val="111111"/>
                </a:solidFill>
                <a:latin typeface="Arial" panose="020B0604020202020204" pitchFamily="34" charset="0"/>
                <a:cs typeface="Arial" panose="020B0604020202020204" pitchFamily="34" charset="0"/>
              </a:rPr>
              <a:t>However, the nested loss of species from the richest to the poorest locality can also cause alpha and gamma diversity to differ. This has the potential to yield the same value of beta diversity for strikingly different patterns.</a:t>
            </a:r>
            <a:endParaRPr lang="en-GB"/>
          </a:p>
        </p:txBody>
      </p:sp>
      <p:sp>
        <p:nvSpPr>
          <p:cNvPr id="2" name="Rettangolo 1">
            <a:extLst>
              <a:ext uri="{FF2B5EF4-FFF2-40B4-BE49-F238E27FC236}">
                <a16:creationId xmlns:a16="http://schemas.microsoft.com/office/drawing/2014/main" id="{02FF7118-0F97-AD45-B94F-C2D1FDA73FB9}"/>
              </a:ext>
            </a:extLst>
          </p:cNvPr>
          <p:cNvSpPr/>
          <p:nvPr/>
        </p:nvSpPr>
        <p:spPr>
          <a:xfrm>
            <a:off x="8434960" y="1851604"/>
            <a:ext cx="3429333" cy="646331"/>
          </a:xfrm>
          <a:prstGeom prst="rect">
            <a:avLst/>
          </a:prstGeom>
        </p:spPr>
        <p:txBody>
          <a:bodyPr wrap="square">
            <a:spAutoFit/>
          </a:bodyPr>
          <a:lstStyle/>
          <a:p>
            <a:pPr algn="ctr"/>
            <a:r>
              <a:rPr lang="en-GB" dirty="0">
                <a:solidFill>
                  <a:srgbClr val="111111"/>
                </a:solidFill>
                <a:latin typeface="Arial" panose="020B0604020202020204" pitchFamily="34" charset="0"/>
                <a:cs typeface="Arial" panose="020B0604020202020204" pitchFamily="34" charset="0"/>
              </a:rPr>
              <a:t>Species replacement aka </a:t>
            </a:r>
            <a:r>
              <a:rPr lang="en-GB" b="1" dirty="0">
                <a:solidFill>
                  <a:srgbClr val="111111"/>
                </a:solidFill>
                <a:latin typeface="Arial" panose="020B0604020202020204" pitchFamily="34" charset="0"/>
                <a:cs typeface="Arial" panose="020B0604020202020204" pitchFamily="34" charset="0"/>
              </a:rPr>
              <a:t>Turnover</a:t>
            </a:r>
            <a:r>
              <a:rPr lang="en-GB" dirty="0">
                <a:solidFill>
                  <a:srgbClr val="111111"/>
                </a:solidFill>
                <a:latin typeface="Arial" panose="020B0604020202020204" pitchFamily="34" charset="0"/>
                <a:cs typeface="Arial" panose="020B0604020202020204" pitchFamily="34" charset="0"/>
              </a:rPr>
              <a:t> </a:t>
            </a:r>
            <a:endParaRPr lang="it-IT" b="1" dirty="0"/>
          </a:p>
        </p:txBody>
      </p:sp>
      <p:sp>
        <p:nvSpPr>
          <p:cNvPr id="7" name="Rettangolo 6">
            <a:extLst>
              <a:ext uri="{FF2B5EF4-FFF2-40B4-BE49-F238E27FC236}">
                <a16:creationId xmlns:a16="http://schemas.microsoft.com/office/drawing/2014/main" id="{27BB90D3-B2BB-9749-86FF-08805C21AA84}"/>
              </a:ext>
            </a:extLst>
          </p:cNvPr>
          <p:cNvSpPr/>
          <p:nvPr/>
        </p:nvSpPr>
        <p:spPr>
          <a:xfrm>
            <a:off x="8434959" y="5277673"/>
            <a:ext cx="3429333" cy="369332"/>
          </a:xfrm>
          <a:prstGeom prst="rect">
            <a:avLst/>
          </a:prstGeom>
        </p:spPr>
        <p:txBody>
          <a:bodyPr wrap="square">
            <a:spAutoFit/>
          </a:bodyPr>
          <a:lstStyle/>
          <a:p>
            <a:pPr algn="ctr"/>
            <a:r>
              <a:rPr lang="en-GB" dirty="0">
                <a:solidFill>
                  <a:srgbClr val="111111"/>
                </a:solidFill>
                <a:latin typeface="Arial" panose="020B0604020202020204" pitchFamily="34" charset="0"/>
                <a:cs typeface="Arial" panose="020B0604020202020204" pitchFamily="34" charset="0"/>
              </a:rPr>
              <a:t>Species nestedness</a:t>
            </a:r>
            <a:endParaRPr lang="it-IT" b="1" dirty="0"/>
          </a:p>
        </p:txBody>
      </p:sp>
      <p:sp>
        <p:nvSpPr>
          <p:cNvPr id="3" name="Ovale 2">
            <a:extLst>
              <a:ext uri="{FF2B5EF4-FFF2-40B4-BE49-F238E27FC236}">
                <a16:creationId xmlns:a16="http://schemas.microsoft.com/office/drawing/2014/main" id="{10FC07FB-2134-8640-887D-32E8809084AF}"/>
              </a:ext>
            </a:extLst>
          </p:cNvPr>
          <p:cNvSpPr/>
          <p:nvPr/>
        </p:nvSpPr>
        <p:spPr>
          <a:xfrm>
            <a:off x="8686800" y="1723258"/>
            <a:ext cx="2940908" cy="7746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Ovale 8">
            <a:extLst>
              <a:ext uri="{FF2B5EF4-FFF2-40B4-BE49-F238E27FC236}">
                <a16:creationId xmlns:a16="http://schemas.microsoft.com/office/drawing/2014/main" id="{CF477AAD-A048-6747-9126-6947DD16C9BF}"/>
              </a:ext>
            </a:extLst>
          </p:cNvPr>
          <p:cNvSpPr/>
          <p:nvPr/>
        </p:nvSpPr>
        <p:spPr>
          <a:xfrm>
            <a:off x="8679171" y="5075000"/>
            <a:ext cx="2940908" cy="7746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9140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2CA8EDF9-7C8A-6844-B139-26F80D332C47}"/>
              </a:ext>
            </a:extLst>
          </p:cNvPr>
          <p:cNvSpPr/>
          <p:nvPr/>
        </p:nvSpPr>
        <p:spPr>
          <a:xfrm>
            <a:off x="156519" y="1443841"/>
            <a:ext cx="11878962" cy="3970318"/>
          </a:xfrm>
          <a:prstGeom prst="rect">
            <a:avLst/>
          </a:prstGeom>
        </p:spPr>
        <p:txBody>
          <a:bodyPr wrap="square">
            <a:spAutoFit/>
          </a:bodyPr>
          <a:lstStyle/>
          <a:p>
            <a:pPr algn="ctr"/>
            <a:r>
              <a:rPr lang="en-GB" sz="2800" b="0" i="0" strike="noStrike" dirty="0">
                <a:effectLst/>
                <a:latin typeface="Arial" panose="020B0604020202020204" pitchFamily="34" charset="0"/>
                <a:cs typeface="Arial" panose="020B0604020202020204" pitchFamily="34" charset="0"/>
              </a:rPr>
              <a:t>Beta diversity can be decomposed into two additive components of dissimilarity, replacement (or turnover, i.e., the substitution rate of species along the gradient) and richness (i.e., the net difference in species number), each reflecting different processes acting on communities.</a:t>
            </a:r>
          </a:p>
          <a:p>
            <a:pPr algn="ctr"/>
            <a:endParaRPr lang="en-GB" sz="2800" dirty="0">
              <a:latin typeface="Arial" panose="020B0604020202020204" pitchFamily="34" charset="0"/>
              <a:cs typeface="Arial" panose="020B0604020202020204" pitchFamily="34" charset="0"/>
            </a:endParaRPr>
          </a:p>
          <a:p>
            <a:pPr algn="ctr"/>
            <a:r>
              <a:rPr lang="en-GB" sz="2800" b="0" i="0" strike="noStrike" dirty="0">
                <a:effectLst/>
                <a:latin typeface="Arial" panose="020B0604020202020204" pitchFamily="34" charset="0"/>
                <a:cs typeface="Arial" panose="020B0604020202020204" pitchFamily="34" charset="0"/>
              </a:rPr>
              <a:t>Environmental niche filtering, competitive loss of species, dispersal limitation and drift are among those multiple processes influencing beta diversity components (Kraft et al. </a:t>
            </a:r>
            <a:r>
              <a:rPr lang="en-GB" sz="2800" b="0" i="0" dirty="0">
                <a:effectLst/>
                <a:latin typeface="Arial" panose="020B0604020202020204" pitchFamily="34" charset="0"/>
                <a:cs typeface="Arial" panose="020B0604020202020204" pitchFamily="34" charset="0"/>
              </a:rPr>
              <a:t>2015</a:t>
            </a:r>
            <a:r>
              <a:rPr lang="en-GB" sz="2800" b="0" i="0" strike="noStrike" dirty="0">
                <a:effectLst/>
                <a:latin typeface="Arial" panose="020B0604020202020204" pitchFamily="34" charset="0"/>
                <a:cs typeface="Arial" panose="020B0604020202020204" pitchFamily="34" charset="0"/>
              </a:rPr>
              <a:t>; Si et al. </a:t>
            </a:r>
            <a:r>
              <a:rPr lang="en-GB" sz="2800" b="0" i="0" dirty="0">
                <a:effectLst/>
                <a:latin typeface="Arial" panose="020B0604020202020204" pitchFamily="34" charset="0"/>
                <a:cs typeface="Arial" panose="020B0604020202020204" pitchFamily="34" charset="0"/>
              </a:rPr>
              <a:t>2016</a:t>
            </a:r>
            <a:r>
              <a:rPr lang="en-GB" sz="2800" b="0" i="0" strike="noStrike" dirty="0">
                <a:effectLst/>
                <a:latin typeface="Arial" panose="020B0604020202020204" pitchFamily="34" charset="0"/>
                <a:cs typeface="Arial" panose="020B0604020202020204" pitchFamily="34" charset="0"/>
              </a:rPr>
              <a:t>; Saladin et al. </a:t>
            </a:r>
            <a:r>
              <a:rPr lang="en-GB" sz="2800" b="0" i="0" dirty="0">
                <a:effectLst/>
                <a:latin typeface="Arial" panose="020B0604020202020204" pitchFamily="34" charset="0"/>
                <a:cs typeface="Arial" panose="020B0604020202020204" pitchFamily="34" charset="0"/>
              </a:rPr>
              <a:t>2019</a:t>
            </a:r>
            <a:r>
              <a:rPr lang="en-GB" sz="2800" b="0" i="0" strike="noStrike" dirty="0">
                <a:effectLst/>
                <a:latin typeface="Arial" panose="020B0604020202020204" pitchFamily="34" charset="0"/>
                <a:cs typeface="Arial" panose="020B0604020202020204" pitchFamily="34" charset="0"/>
              </a:rPr>
              <a:t>).</a:t>
            </a: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849916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181</Words>
  <Application>Microsoft Macintosh PowerPoint</Application>
  <PresentationFormat>Widescreen</PresentationFormat>
  <Paragraphs>7</Paragraphs>
  <Slides>2</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vt:i4>
      </vt:variant>
    </vt:vector>
  </HeadingPairs>
  <TitlesOfParts>
    <vt:vector size="6" baseType="lpstr">
      <vt:lpstr>Arial</vt:lpstr>
      <vt:lpstr>Calibri</vt:lpstr>
      <vt:lpstr>Calibri Light</vt:lpstr>
      <vt:lpstr>Tema di Office</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bruno bellisario</dc:creator>
  <cp:lastModifiedBy>bruno bellisario</cp:lastModifiedBy>
  <cp:revision>1</cp:revision>
  <dcterms:created xsi:type="dcterms:W3CDTF">2021-12-19T16:57:39Z</dcterms:created>
  <dcterms:modified xsi:type="dcterms:W3CDTF">2021-12-19T17:10:39Z</dcterms:modified>
</cp:coreProperties>
</file>